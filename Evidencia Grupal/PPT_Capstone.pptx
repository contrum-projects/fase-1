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D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75BED-7214-C99E-B286-AF1117F1D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23F7F1-EACB-D570-8C86-EE332395E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6A835-6D1A-6A6E-A2B3-F89E5CB3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84D-2536-46CF-824F-259F3E8DD488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1C41-F4A8-8041-1FC8-5708668F7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D212D-1EAE-173A-4D94-9453262E7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7AF3-488B-41E9-A0A2-A170B1F427EE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164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4B328-1871-2479-6927-96EF5C8B0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6C686-CBED-6A3E-281C-07BEBBDDB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2BD74-5D46-AFC5-7D40-93BDFE2AC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84D-2536-46CF-824F-259F3E8DD488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BB808-FDF0-86A3-E626-29E8D089E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C0ADB-3BAC-F08B-83E4-3AE3E7B6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7AF3-488B-41E9-A0A2-A170B1F427EE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675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241BC-512E-59FB-6DF7-BBC3E036E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1F0C-6A61-970A-FA92-B9B618352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7C94B-233E-B0E5-4355-4FA4D3573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84D-2536-46CF-824F-259F3E8DD488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648C6-B5BB-B63D-5941-1C4AC435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589EF-5255-EF0F-1348-7498ADF6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7AF3-488B-41E9-A0A2-A170B1F427EE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79305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D91A-2565-4B3A-71B1-01DB7A132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58B4C-FF27-0F73-21B5-ECB41802D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99BD9-74F9-D5B2-2984-8F6983DAF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BD8B3-4994-7574-B5B2-169902F2B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84D-2536-46CF-824F-259F3E8DD488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6EAA9-5992-D594-1C78-08D622CA7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5AAFB9-45C8-8045-6F69-F85B330E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7AF3-488B-41E9-A0A2-A170B1F427EE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9619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9319B-5F00-6B0E-AA14-51FC78535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247EA-3EF6-EBD3-4BDE-C08CC21C9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05430-07B0-220A-276E-CD92CD8A1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22BA2-2BF8-0436-2172-856D3B1C50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C191C3-C7B5-F88D-2714-B33DAD282B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AAAF96-7BF9-344A-40D9-273F8A953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84D-2536-46CF-824F-259F3E8DD488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BEE404-660F-BF27-8138-BE235D45B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776D9A-7630-EBAE-80E8-A2736730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7AF3-488B-41E9-A0A2-A170B1F427EE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1198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1D373-A254-CC7A-B179-090913B4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D6140-1DA2-15E6-3392-E9F557E81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84D-2536-46CF-824F-259F3E8DD488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F7C54-4CD0-68DF-6396-3AF1AC4E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1140D-1B33-3A40-2E00-A58D8A970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7AF3-488B-41E9-A0A2-A170B1F427EE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7312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83F1F8-550F-7DA1-E418-0A64DDCA6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84D-2536-46CF-824F-259F3E8DD488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ADAB1-662C-4F36-9D83-CC4107224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6BAC4-954C-5301-E65C-59061538C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7AF3-488B-41E9-A0A2-A170B1F427EE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6132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3FA7-7062-3D30-D5EB-1D3416B6F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85388-04AF-224B-85FD-FF5B60562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BFBBB-4AF1-39AC-F5F3-F4FE32ED5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5C2AD-A1B5-6FC0-FC24-6B25C99F3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84D-2536-46CF-824F-259F3E8DD488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DDB9A-45A8-B80E-E82E-5D02D11C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96A76-08A1-7C37-C8B8-D22DD423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7AF3-488B-41E9-A0A2-A170B1F427EE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78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60C46-BA8B-A225-EBCF-649639620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FC8777-9D66-324D-E33C-97F78CB69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86A2D-681B-7E71-9CA9-68E076DEB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FCC26-F09F-AF21-FD41-4BF591C42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84D-2536-46CF-824F-259F3E8DD488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D499C-7C3D-8366-CDCE-C5E628F9D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18BF2-F8FF-D433-747C-1CA3B477A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7AF3-488B-41E9-A0A2-A170B1F427EE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687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78668-5664-17EB-0537-AA8D533BB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E1C497-E918-9087-2C4D-991CEA696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8608B-6F55-6EA4-2B73-8B7E533CF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84D-2536-46CF-824F-259F3E8DD488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83B02-ECD7-823F-1400-97D2DFACF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90A97-B47C-C651-BF53-9E2E4022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7AF3-488B-41E9-A0A2-A170B1F427EE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028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D84C0F-6506-7D81-D19D-7506CA7D21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596FD-CBCE-853E-155A-2248B7851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E940C-C16F-70D7-8162-008E2E203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A384D-2536-46CF-824F-259F3E8DD488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2255B-BD48-9048-C506-9256807EF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8C19A-5D94-BD19-0492-802315F6C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77AF3-488B-41E9-A0A2-A170B1F427EE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0009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AAD6B7-CD4D-57AB-EC09-36A5CD6C8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1EBF8-91D7-EE1D-A40F-8FF79D0D6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47D4E-7460-277F-0364-85E5B0EF9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1A384D-2536-46CF-824F-259F3E8DD488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A9A26-E7B0-EACA-303A-CDD0E4F3A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4BAC3-E838-D74A-876B-E2F66D74C1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77AF3-488B-41E9-A0A2-A170B1F427EE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2919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6447C9-9920-CAD4-E8D8-25E170905C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04" y="1457800"/>
            <a:ext cx="4461609" cy="265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91C515-4A18-EE78-35C0-6376547B453A}"/>
              </a:ext>
            </a:extLst>
          </p:cNvPr>
          <p:cNvSpPr txBox="1"/>
          <p:nvPr/>
        </p:nvSpPr>
        <p:spPr>
          <a:xfrm>
            <a:off x="928604" y="4114800"/>
            <a:ext cx="2463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solidFill>
                  <a:srgbClr val="2DD4BF"/>
                </a:solidFill>
              </a:rPr>
              <a:t>Proyecto Capstone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607BD7-C9A6-7CF3-09E2-07A5C746F9D9}"/>
              </a:ext>
            </a:extLst>
          </p:cNvPr>
          <p:cNvSpPr txBox="1"/>
          <p:nvPr/>
        </p:nvSpPr>
        <p:spPr>
          <a:xfrm>
            <a:off x="9208008" y="5166360"/>
            <a:ext cx="25067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>
                <a:solidFill>
                  <a:srgbClr val="2DD4BF"/>
                </a:solidFill>
              </a:rPr>
              <a:t>Integrantes:</a:t>
            </a:r>
          </a:p>
          <a:p>
            <a:r>
              <a:rPr lang="es-CL" dirty="0">
                <a:solidFill>
                  <a:srgbClr val="2DD4BF"/>
                </a:solidFill>
              </a:rPr>
              <a:t>	- Ana Garrido</a:t>
            </a:r>
          </a:p>
          <a:p>
            <a:r>
              <a:rPr lang="es-CL" dirty="0">
                <a:solidFill>
                  <a:srgbClr val="2DD4BF"/>
                </a:solidFill>
              </a:rPr>
              <a:t>	- Bayron Barra</a:t>
            </a:r>
          </a:p>
          <a:p>
            <a:r>
              <a:rPr lang="es-CL" dirty="0">
                <a:solidFill>
                  <a:srgbClr val="2DD4BF"/>
                </a:solidFill>
              </a:rPr>
              <a:t>	- José Toledo</a:t>
            </a:r>
          </a:p>
        </p:txBody>
      </p:sp>
    </p:spTree>
    <p:extLst>
      <p:ext uri="{BB962C8B-B14F-4D97-AF65-F5344CB8AC3E}">
        <p14:creationId xmlns:p14="http://schemas.microsoft.com/office/powerpoint/2010/main" val="1820710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D4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3F3744-4AB2-F213-B9A5-DC90ECB276A4}"/>
              </a:ext>
            </a:extLst>
          </p:cNvPr>
          <p:cNvSpPr txBox="1"/>
          <p:nvPr/>
        </p:nvSpPr>
        <p:spPr>
          <a:xfrm>
            <a:off x="374904" y="274320"/>
            <a:ext cx="5440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b="1" dirty="0">
                <a:solidFill>
                  <a:schemeClr val="bg1"/>
                </a:solidFill>
              </a:rPr>
              <a:t>Descripción del proyecto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0D054-D514-BCFD-4225-D4B61F3DFB0A}"/>
              </a:ext>
            </a:extLst>
          </p:cNvPr>
          <p:cNvSpPr txBox="1"/>
          <p:nvPr/>
        </p:nvSpPr>
        <p:spPr>
          <a:xfrm>
            <a:off x="374904" y="2105561"/>
            <a:ext cx="508406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000" b="1" u="sng" dirty="0">
                <a:solidFill>
                  <a:schemeClr val="bg1"/>
                </a:solidFill>
              </a:rPr>
              <a:t>Problemática</a:t>
            </a:r>
          </a:p>
          <a:p>
            <a:r>
              <a:rPr lang="es-CL" dirty="0">
                <a:solidFill>
                  <a:schemeClr val="bg1"/>
                </a:solidFill>
              </a:rPr>
              <a:t>Cabello Perfecto no cuenta con un canal de venta digital que le permita atender de forma simultánea a peluqueros/distribuidores y clientes finales, diferenciar precios entre ambos de forma automática y confiable, y capturar/aprovechar sistemáticamente los datos de sus clientes para fidelización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A9786-A58F-AD0F-CCA8-814668505EA1}"/>
              </a:ext>
            </a:extLst>
          </p:cNvPr>
          <p:cNvSpPr txBox="1"/>
          <p:nvPr/>
        </p:nvSpPr>
        <p:spPr>
          <a:xfrm>
            <a:off x="6733034" y="2244060"/>
            <a:ext cx="493471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000" b="1" u="sng" dirty="0">
                <a:solidFill>
                  <a:schemeClr val="bg1"/>
                </a:solidFill>
              </a:rPr>
              <a:t>Nuestra Solución</a:t>
            </a:r>
          </a:p>
          <a:p>
            <a:r>
              <a:rPr lang="es-CL" dirty="0">
                <a:solidFill>
                  <a:schemeClr val="bg1"/>
                </a:solidFill>
              </a:rPr>
              <a:t>una plataforma web de comercio electrónico que le da a Cabello Perfecto la infraestructura digital que hoy no tiene, resolviendo cada uno de los puntos de la problemática con una funcionalidad concreta.</a:t>
            </a:r>
          </a:p>
        </p:txBody>
      </p:sp>
    </p:spTree>
    <p:extLst>
      <p:ext uri="{BB962C8B-B14F-4D97-AF65-F5344CB8AC3E}">
        <p14:creationId xmlns:p14="http://schemas.microsoft.com/office/powerpoint/2010/main" val="3284523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C1E0A-F052-AB8A-FC8C-AE117A3CD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5FEF82-4B46-E259-9A63-B664B780BADB}"/>
              </a:ext>
            </a:extLst>
          </p:cNvPr>
          <p:cNvSpPr txBox="1"/>
          <p:nvPr/>
        </p:nvSpPr>
        <p:spPr>
          <a:xfrm>
            <a:off x="374904" y="274320"/>
            <a:ext cx="2188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b="1" dirty="0">
                <a:solidFill>
                  <a:srgbClr val="2DD4BF"/>
                </a:solidFill>
              </a:rPr>
              <a:t>Objetivos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B8C76-D5D1-881C-6F37-67F8DF66BECA}"/>
              </a:ext>
            </a:extLst>
          </p:cNvPr>
          <p:cNvSpPr txBox="1"/>
          <p:nvPr/>
        </p:nvSpPr>
        <p:spPr>
          <a:xfrm>
            <a:off x="374904" y="1008281"/>
            <a:ext cx="11695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solidFill>
                  <a:srgbClr val="2DD4BF"/>
                </a:solidFill>
              </a:rPr>
              <a:t>Desarrollar una plataforma de e-</a:t>
            </a:r>
            <a:r>
              <a:rPr lang="es-CL" dirty="0" err="1">
                <a:solidFill>
                  <a:srgbClr val="2DD4BF"/>
                </a:solidFill>
              </a:rPr>
              <a:t>commerce</a:t>
            </a:r>
            <a:r>
              <a:rPr lang="es-CL" dirty="0">
                <a:solidFill>
                  <a:srgbClr val="2DD4BF"/>
                </a:solidFill>
              </a:rPr>
              <a:t> para Cabello Perfecto que permita la venta diferenciada de productos capilares a clientes y profesionales, con catálogo optimizado para móvil, descripciones generadas por IA, pago electrónico seguro y seguimiento de despachos en tiempo real.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37A11B-5D2C-8711-9280-E5ABF115B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226" y="2747962"/>
            <a:ext cx="1362075" cy="1362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77834F-1E80-C3B1-337F-85B3ED1FD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771" y="2747962"/>
            <a:ext cx="1438276" cy="14382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2406A3-C59C-B5D2-327C-657BB2CB12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5480" y="2709860"/>
            <a:ext cx="1438277" cy="1438277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779BAB6-8ADE-CC06-D01C-3BCDC2969865}"/>
              </a:ext>
            </a:extLst>
          </p:cNvPr>
          <p:cNvSpPr/>
          <p:nvPr/>
        </p:nvSpPr>
        <p:spPr>
          <a:xfrm>
            <a:off x="841248" y="4334256"/>
            <a:ext cx="3246119" cy="16824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E19081-AEC9-4240-B1D1-D9C6B9CDCA74}"/>
              </a:ext>
            </a:extLst>
          </p:cNvPr>
          <p:cNvSpPr txBox="1"/>
          <p:nvPr/>
        </p:nvSpPr>
        <p:spPr>
          <a:xfrm>
            <a:off x="957210" y="4463831"/>
            <a:ext cx="31301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Verificar y activar como compradores mayoristas al </a:t>
            </a:r>
            <a:r>
              <a:rPr lang="es-CL" b="1" dirty="0">
                <a:solidFill>
                  <a:schemeClr val="bg1"/>
                </a:solidFill>
              </a:rPr>
              <a:t>30%</a:t>
            </a:r>
            <a:r>
              <a:rPr lang="es-CL" dirty="0">
                <a:solidFill>
                  <a:schemeClr val="bg1"/>
                </a:solidFill>
              </a:rPr>
              <a:t> de los peluqueros registrados durante el primer semestre.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78F7B49-EC24-28AB-3E0E-27E30C9964E4}"/>
              </a:ext>
            </a:extLst>
          </p:cNvPr>
          <p:cNvSpPr/>
          <p:nvPr/>
        </p:nvSpPr>
        <p:spPr>
          <a:xfrm>
            <a:off x="4425695" y="4334256"/>
            <a:ext cx="3246119" cy="16824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05EC88B-B671-D543-1621-D40D8784A338}"/>
              </a:ext>
            </a:extLst>
          </p:cNvPr>
          <p:cNvSpPr/>
          <p:nvPr/>
        </p:nvSpPr>
        <p:spPr>
          <a:xfrm>
            <a:off x="8010142" y="4334256"/>
            <a:ext cx="3246119" cy="168249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EA2DE4-EDBA-0402-EBD5-6734BF46C208}"/>
              </a:ext>
            </a:extLst>
          </p:cNvPr>
          <p:cNvSpPr txBox="1"/>
          <p:nvPr/>
        </p:nvSpPr>
        <p:spPr>
          <a:xfrm>
            <a:off x="4646009" y="4713839"/>
            <a:ext cx="28054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Resolver el </a:t>
            </a:r>
            <a:r>
              <a:rPr lang="es-CL" b="1" dirty="0">
                <a:solidFill>
                  <a:schemeClr val="bg1"/>
                </a:solidFill>
              </a:rPr>
              <a:t>70%</a:t>
            </a:r>
            <a:r>
              <a:rPr lang="es-CL" dirty="0">
                <a:solidFill>
                  <a:schemeClr val="bg1"/>
                </a:solidFill>
              </a:rPr>
              <a:t> de las solicitudes de verificación en menos de </a:t>
            </a:r>
            <a:r>
              <a:rPr lang="es-CL" b="1" dirty="0">
                <a:solidFill>
                  <a:schemeClr val="bg1"/>
                </a:solidFill>
              </a:rPr>
              <a:t>48 horas</a:t>
            </a:r>
            <a:r>
              <a:rPr lang="es-CL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21E55E-E4A4-D119-5697-3E46DD921302}"/>
              </a:ext>
            </a:extLst>
          </p:cNvPr>
          <p:cNvSpPr txBox="1"/>
          <p:nvPr/>
        </p:nvSpPr>
        <p:spPr>
          <a:xfrm>
            <a:off x="8116823" y="4628423"/>
            <a:ext cx="30571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solidFill>
                  <a:schemeClr val="bg1"/>
                </a:solidFill>
              </a:rPr>
              <a:t>Generar con IA el </a:t>
            </a:r>
            <a:r>
              <a:rPr lang="es-CL" b="1" dirty="0">
                <a:solidFill>
                  <a:schemeClr val="bg1"/>
                </a:solidFill>
              </a:rPr>
              <a:t>80%</a:t>
            </a:r>
            <a:r>
              <a:rPr lang="es-CL" dirty="0">
                <a:solidFill>
                  <a:schemeClr val="bg1"/>
                </a:solidFill>
              </a:rPr>
              <a:t> de las descripciones de productos nuevos cargados al catálogo.</a:t>
            </a:r>
          </a:p>
        </p:txBody>
      </p:sp>
    </p:spTree>
    <p:extLst>
      <p:ext uri="{BB962C8B-B14F-4D97-AF65-F5344CB8AC3E}">
        <p14:creationId xmlns:p14="http://schemas.microsoft.com/office/powerpoint/2010/main" val="1830964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D4B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ED89E-F5C6-6610-E5E4-91FAC6FA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3F9BDF-9365-E236-455C-BC2C42A149B1}"/>
              </a:ext>
            </a:extLst>
          </p:cNvPr>
          <p:cNvSpPr txBox="1"/>
          <p:nvPr/>
        </p:nvSpPr>
        <p:spPr>
          <a:xfrm>
            <a:off x="374904" y="274320"/>
            <a:ext cx="11682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b="1" dirty="0">
                <a:solidFill>
                  <a:schemeClr val="bg1"/>
                </a:solidFill>
              </a:rPr>
              <a:t>Alcance 								     Limitaciones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BF7BFE-DCAC-2917-F564-6BAE84CFE8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04" y="920651"/>
            <a:ext cx="1133272" cy="11332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3E18BB-77A2-C9C8-D397-4606BE00C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86" y="1912873"/>
            <a:ext cx="857907" cy="8579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AE61CDB-B168-BC29-0112-0BF9F282CD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85" y="2905095"/>
            <a:ext cx="857907" cy="8579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277F26E-B19D-0B52-C93C-207801F91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04" y="3763002"/>
            <a:ext cx="1133272" cy="113327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CD4ED72-0898-AAED-5B58-AE0F28EAA6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18" y="5032975"/>
            <a:ext cx="904374" cy="9043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3E82EB5-4ACF-7FAD-6123-1790AB3D9EB0}"/>
              </a:ext>
            </a:extLst>
          </p:cNvPr>
          <p:cNvSpPr txBox="1"/>
          <p:nvPr/>
        </p:nvSpPr>
        <p:spPr>
          <a:xfrm>
            <a:off x="1370492" y="1222310"/>
            <a:ext cx="27719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chemeClr val="bg1"/>
                </a:solidFill>
              </a:rPr>
              <a:t>Catálogo y precios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40B86B-C620-92A6-5582-854125817EDF}"/>
              </a:ext>
            </a:extLst>
          </p:cNvPr>
          <p:cNvSpPr txBox="1"/>
          <p:nvPr/>
        </p:nvSpPr>
        <p:spPr>
          <a:xfrm>
            <a:off x="1370492" y="2080217"/>
            <a:ext cx="2425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chemeClr val="bg1"/>
                </a:solidFill>
              </a:rPr>
              <a:t>Compra y pagos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EE2B5C-7666-9A3D-67B0-550014E092E7}"/>
              </a:ext>
            </a:extLst>
          </p:cNvPr>
          <p:cNvSpPr txBox="1"/>
          <p:nvPr/>
        </p:nvSpPr>
        <p:spPr>
          <a:xfrm>
            <a:off x="1370492" y="3072439"/>
            <a:ext cx="3286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chemeClr val="bg1"/>
                </a:solidFill>
              </a:rPr>
              <a:t>Cuentas y verificación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3E45C4-0AF5-4C56-3FF2-42B1A947D1AE}"/>
              </a:ext>
            </a:extLst>
          </p:cNvPr>
          <p:cNvSpPr txBox="1"/>
          <p:nvPr/>
        </p:nvSpPr>
        <p:spPr>
          <a:xfrm>
            <a:off x="1370492" y="4097689"/>
            <a:ext cx="4610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chemeClr val="bg1"/>
                </a:solidFill>
              </a:rPr>
              <a:t>Captación y análisis de clientes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275FE8-5246-0246-3F8B-FC2870E5DCC0}"/>
              </a:ext>
            </a:extLst>
          </p:cNvPr>
          <p:cNvSpPr txBox="1"/>
          <p:nvPr/>
        </p:nvSpPr>
        <p:spPr>
          <a:xfrm>
            <a:off x="1370492" y="5404857"/>
            <a:ext cx="3060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chemeClr val="bg1"/>
                </a:solidFill>
              </a:rPr>
              <a:t>Inteligencia artificial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743D85A-540F-3311-6108-0F82CCCD40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6" y="2240104"/>
            <a:ext cx="885390" cy="88539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6BC4CDB-8CB9-8358-DDB6-EA51026B12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6" y="3125494"/>
            <a:ext cx="885390" cy="88539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707A7CF-83F4-A9B2-D2E7-040B9BF7CD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706" y="4010884"/>
            <a:ext cx="885390" cy="88539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53F7F3AE-91D8-39F4-2C08-74B27D524181}"/>
              </a:ext>
            </a:extLst>
          </p:cNvPr>
          <p:cNvSpPr txBox="1"/>
          <p:nvPr/>
        </p:nvSpPr>
        <p:spPr>
          <a:xfrm>
            <a:off x="7241272" y="2494765"/>
            <a:ext cx="3690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Sin gestión de devoluciones ni reembolsos.</a:t>
            </a:r>
            <a:endParaRPr lang="es-CL" sz="1400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E43EB8-8213-BC5A-018F-D2969385D85B}"/>
              </a:ext>
            </a:extLst>
          </p:cNvPr>
          <p:cNvSpPr txBox="1"/>
          <p:nvPr/>
        </p:nvSpPr>
        <p:spPr>
          <a:xfrm>
            <a:off x="6555472" y="3350207"/>
            <a:ext cx="4464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Campañas de marketing solo por correo electrónico.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0A887B-E2D0-E070-BF03-230AF9FCE08C}"/>
              </a:ext>
            </a:extLst>
          </p:cNvPr>
          <p:cNvSpPr txBox="1"/>
          <p:nvPr/>
        </p:nvSpPr>
        <p:spPr>
          <a:xfrm>
            <a:off x="7241272" y="4313129"/>
            <a:ext cx="36386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</a:rPr>
              <a:t>Gestión limitada al catálogo de productos.</a:t>
            </a:r>
          </a:p>
        </p:txBody>
      </p:sp>
    </p:spTree>
    <p:extLst>
      <p:ext uri="{BB962C8B-B14F-4D97-AF65-F5344CB8AC3E}">
        <p14:creationId xmlns:p14="http://schemas.microsoft.com/office/powerpoint/2010/main" val="594780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5D6AE-3A7E-5747-FF9C-8D1E66A7C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2491A-1A14-F013-D384-FA0BC1724643}"/>
              </a:ext>
            </a:extLst>
          </p:cNvPr>
          <p:cNvSpPr txBox="1"/>
          <p:nvPr/>
        </p:nvSpPr>
        <p:spPr>
          <a:xfrm>
            <a:off x="374904" y="329184"/>
            <a:ext cx="27953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b="1" dirty="0">
                <a:solidFill>
                  <a:srgbClr val="2DD4BF"/>
                </a:solidFill>
              </a:rPr>
              <a:t>Metodología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FD8DD5-973A-C294-56A2-329E051100D1}"/>
              </a:ext>
            </a:extLst>
          </p:cNvPr>
          <p:cNvSpPr txBox="1"/>
          <p:nvPr/>
        </p:nvSpPr>
        <p:spPr>
          <a:xfrm>
            <a:off x="374904" y="975515"/>
            <a:ext cx="10428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>
                <a:solidFill>
                  <a:srgbClr val="2DD4BF"/>
                </a:solidFill>
              </a:rPr>
              <a:t>Metodología híbrida que combina Scrum y Kanban: ciclos cortos de planificación y revisión, con las tareas organizadas en un tablero visual de flujo continuo.</a:t>
            </a:r>
            <a:endParaRPr lang="es-CL" b="1" u="sng" dirty="0">
              <a:solidFill>
                <a:srgbClr val="2DD4B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FCFFD-6634-585C-75A2-B12D8B91525D}"/>
              </a:ext>
            </a:extLst>
          </p:cNvPr>
          <p:cNvSpPr txBox="1"/>
          <p:nvPr/>
        </p:nvSpPr>
        <p:spPr>
          <a:xfrm>
            <a:off x="374904" y="1849077"/>
            <a:ext cx="1412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dirty="0">
                <a:solidFill>
                  <a:srgbClr val="2DD4BF"/>
                </a:solidFill>
              </a:rPr>
              <a:t>Scrum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F32ED7-E686-3131-8DE7-DAC039781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04" y="2630424"/>
            <a:ext cx="758952" cy="7589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53F35D-8D0F-55C5-13E0-EBB23A3F0BE6}"/>
              </a:ext>
            </a:extLst>
          </p:cNvPr>
          <p:cNvSpPr txBox="1"/>
          <p:nvPr/>
        </p:nvSpPr>
        <p:spPr>
          <a:xfrm>
            <a:off x="1276350" y="2779067"/>
            <a:ext cx="3343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>
                <a:solidFill>
                  <a:srgbClr val="2DD4BF"/>
                </a:solidFill>
              </a:rPr>
              <a:t>Ciclos cortos de trabajo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07F4BB-D59D-7DA1-40C0-006B9ECC70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0" y="3668243"/>
            <a:ext cx="1036320" cy="103632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D3734EF-8E63-7CB2-AA19-A5AD1B182549}"/>
              </a:ext>
            </a:extLst>
          </p:cNvPr>
          <p:cNvSpPr txBox="1"/>
          <p:nvPr/>
        </p:nvSpPr>
        <p:spPr>
          <a:xfrm>
            <a:off x="1276349" y="3955570"/>
            <a:ext cx="6029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>
                <a:solidFill>
                  <a:srgbClr val="2DD4BF"/>
                </a:solidFill>
              </a:rPr>
              <a:t>Revisión periódica de avances con el cliente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728CE1-A4E8-B492-D377-0A0469DFF7AD}"/>
              </a:ext>
            </a:extLst>
          </p:cNvPr>
          <p:cNvSpPr txBox="1"/>
          <p:nvPr/>
        </p:nvSpPr>
        <p:spPr>
          <a:xfrm>
            <a:off x="10000750" y="4007302"/>
            <a:ext cx="16047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dirty="0">
                <a:solidFill>
                  <a:srgbClr val="2DD4BF"/>
                </a:solidFill>
              </a:rPr>
              <a:t>Kanban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A163207-1B09-C5BE-7DA4-B0248931C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006" y="4771177"/>
            <a:ext cx="942975" cy="9429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ADFB8B8-7594-49A9-EF4A-53B406298D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006" y="5714152"/>
            <a:ext cx="942975" cy="94297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D48100C-6507-9E41-C724-250D6B59C466}"/>
              </a:ext>
            </a:extLst>
          </p:cNvPr>
          <p:cNvSpPr txBox="1"/>
          <p:nvPr/>
        </p:nvSpPr>
        <p:spPr>
          <a:xfrm>
            <a:off x="1949110" y="5011831"/>
            <a:ext cx="87498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>
                <a:solidFill>
                  <a:srgbClr val="2DD4BF"/>
                </a:solidFill>
              </a:rPr>
              <a:t>Tablero visual: Por hacer → En progreso → En revisión → Terminado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39F94A7-E686-CF2E-8EAC-E023452C1A23}"/>
              </a:ext>
            </a:extLst>
          </p:cNvPr>
          <p:cNvSpPr txBox="1"/>
          <p:nvPr/>
        </p:nvSpPr>
        <p:spPr>
          <a:xfrm>
            <a:off x="2183255" y="5954806"/>
            <a:ext cx="8505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>
                <a:solidFill>
                  <a:srgbClr val="2DD4BF"/>
                </a:solidFill>
              </a:rPr>
              <a:t>Flujo continuo, sin comprometerse rígidamente a todo el sprint</a:t>
            </a:r>
          </a:p>
        </p:txBody>
      </p:sp>
    </p:spTree>
    <p:extLst>
      <p:ext uri="{BB962C8B-B14F-4D97-AF65-F5344CB8AC3E}">
        <p14:creationId xmlns:p14="http://schemas.microsoft.com/office/powerpoint/2010/main" val="48721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D4B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7F26C2-DCBE-BE20-D3F1-18E9FD009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318469-7CC7-B09D-286D-86139F9C1006}"/>
              </a:ext>
            </a:extLst>
          </p:cNvPr>
          <p:cNvSpPr txBox="1"/>
          <p:nvPr/>
        </p:nvSpPr>
        <p:spPr>
          <a:xfrm>
            <a:off x="374904" y="274320"/>
            <a:ext cx="1378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b="1" dirty="0">
                <a:solidFill>
                  <a:schemeClr val="bg1"/>
                </a:solidFill>
              </a:rPr>
              <a:t>Stack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4B4C46-6925-8BA9-83F2-1E2C769FE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949" y="1873498"/>
            <a:ext cx="1050676" cy="10506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E593EE-E688-64EC-F090-1BE2C20A6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212" y="2398836"/>
            <a:ext cx="1304925" cy="1304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2B4DF6-7E96-838C-1E8E-B98E287DCD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875" y="1781175"/>
            <a:ext cx="846262" cy="8462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9289CA-0FB9-6A84-F29E-232BDDA131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310" y="1616491"/>
            <a:ext cx="1564690" cy="15646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4B273B-525D-D43A-8E60-17EEFC634D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865" y="2627437"/>
            <a:ext cx="1122363" cy="112236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FAA7D3D-3F78-F57F-716A-95DC733FA7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653436"/>
            <a:ext cx="974002" cy="97400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436B28A-9EDD-0CAB-9C15-C66538F454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2979" y="2561829"/>
            <a:ext cx="1014807" cy="101480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5A1980B-F071-EC25-9082-EBBD61A482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172" y="2096432"/>
            <a:ext cx="1014807" cy="101480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622B3C0-3966-56C9-49BB-CBFBF389E1FB}"/>
              </a:ext>
            </a:extLst>
          </p:cNvPr>
          <p:cNvSpPr txBox="1"/>
          <p:nvPr/>
        </p:nvSpPr>
        <p:spPr>
          <a:xfrm>
            <a:off x="699654" y="3749800"/>
            <a:ext cx="25059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400" b="1" dirty="0" err="1">
                <a:solidFill>
                  <a:schemeClr val="bg1"/>
                </a:solidFill>
              </a:rPr>
              <a:t>Frontend</a:t>
            </a:r>
            <a:endParaRPr lang="es-CL" sz="4400" b="1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0E77BC-A21B-998A-4518-B01C4B119B55}"/>
              </a:ext>
            </a:extLst>
          </p:cNvPr>
          <p:cNvSpPr txBox="1"/>
          <p:nvPr/>
        </p:nvSpPr>
        <p:spPr>
          <a:xfrm>
            <a:off x="4888426" y="4134520"/>
            <a:ext cx="241514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400" b="1" dirty="0" err="1">
                <a:solidFill>
                  <a:schemeClr val="bg1"/>
                </a:solidFill>
              </a:rPr>
              <a:t>Backend</a:t>
            </a:r>
            <a:endParaRPr lang="es-CL" sz="4400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B96147-2564-0C08-BCC3-E77FD177B1A5}"/>
              </a:ext>
            </a:extLst>
          </p:cNvPr>
          <p:cNvSpPr txBox="1"/>
          <p:nvPr/>
        </p:nvSpPr>
        <p:spPr>
          <a:xfrm>
            <a:off x="8088333" y="3721355"/>
            <a:ext cx="39679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400" b="1" dirty="0">
                <a:solidFill>
                  <a:schemeClr val="bg1"/>
                </a:solidFill>
              </a:rPr>
              <a:t>Base de datos</a:t>
            </a:r>
          </a:p>
        </p:txBody>
      </p:sp>
    </p:spTree>
    <p:extLst>
      <p:ext uri="{BB962C8B-B14F-4D97-AF65-F5344CB8AC3E}">
        <p14:creationId xmlns:p14="http://schemas.microsoft.com/office/powerpoint/2010/main" val="3916293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A869C-17E8-C1EE-CA05-720CD2CED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A2A263-4248-BF31-9835-B8243B6FB1D8}"/>
              </a:ext>
            </a:extLst>
          </p:cNvPr>
          <p:cNvSpPr txBox="1"/>
          <p:nvPr/>
        </p:nvSpPr>
        <p:spPr>
          <a:xfrm>
            <a:off x="374904" y="329184"/>
            <a:ext cx="2783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b="1" dirty="0">
                <a:solidFill>
                  <a:srgbClr val="2DD4BF"/>
                </a:solidFill>
              </a:rPr>
              <a:t>Cronograma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3638081-79B0-710B-F063-88306BCA920D}"/>
              </a:ext>
            </a:extLst>
          </p:cNvPr>
          <p:cNvSpPr/>
          <p:nvPr/>
        </p:nvSpPr>
        <p:spPr>
          <a:xfrm>
            <a:off x="374904" y="1704976"/>
            <a:ext cx="2549271" cy="11811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>
                <a:solidFill>
                  <a:schemeClr val="bg1"/>
                </a:solidFill>
              </a:rPr>
              <a:t>Planteamiento</a:t>
            </a:r>
            <a:r>
              <a:rPr lang="es-CL" sz="36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C94F2-FE4F-675C-9265-D3D1A4B7BA76}"/>
              </a:ext>
            </a:extLst>
          </p:cNvPr>
          <p:cNvSpPr txBox="1"/>
          <p:nvPr/>
        </p:nvSpPr>
        <p:spPr>
          <a:xfrm>
            <a:off x="1078562" y="1704976"/>
            <a:ext cx="1141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>
                <a:solidFill>
                  <a:schemeClr val="bg1"/>
                </a:solidFill>
              </a:rPr>
              <a:t>Fase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0B9665-D3A7-8F49-11B3-16C341EB540E}"/>
              </a:ext>
            </a:extLst>
          </p:cNvPr>
          <p:cNvSpPr txBox="1"/>
          <p:nvPr/>
        </p:nvSpPr>
        <p:spPr>
          <a:xfrm>
            <a:off x="4951857" y="2713863"/>
            <a:ext cx="1072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rgbClr val="2DD4BF"/>
                </a:solidFill>
              </a:rPr>
              <a:t>Fase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614698-8FC2-A692-6479-FF6F8370C99E}"/>
              </a:ext>
            </a:extLst>
          </p:cNvPr>
          <p:cNvSpPr txBox="1"/>
          <p:nvPr/>
        </p:nvSpPr>
        <p:spPr>
          <a:xfrm>
            <a:off x="4103419" y="3164005"/>
            <a:ext cx="2687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dirty="0">
                <a:solidFill>
                  <a:srgbClr val="2DD4BF"/>
                </a:solidFill>
              </a:rPr>
              <a:t>Análisis</a:t>
            </a:r>
            <a:r>
              <a:rPr lang="es-CL" dirty="0">
                <a:solidFill>
                  <a:srgbClr val="2DD4BF"/>
                </a:solidFill>
              </a:rPr>
              <a:t> y diseño </a:t>
            </a:r>
            <a:r>
              <a:rPr lang="es-CL" b="1" dirty="0">
                <a:solidFill>
                  <a:srgbClr val="2DD4BF"/>
                </a:solidFill>
              </a:rPr>
              <a:t>(S5-S8)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A1EF05-7464-8929-C8BE-C111B3D85E96}"/>
              </a:ext>
            </a:extLst>
          </p:cNvPr>
          <p:cNvSpPr txBox="1"/>
          <p:nvPr/>
        </p:nvSpPr>
        <p:spPr>
          <a:xfrm>
            <a:off x="5487997" y="3719984"/>
            <a:ext cx="33415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dirty="0">
                <a:solidFill>
                  <a:srgbClr val="2DD4BF"/>
                </a:solidFill>
              </a:rPr>
              <a:t>Desarrollo </a:t>
            </a:r>
            <a:r>
              <a:rPr lang="es-CL" sz="2000" dirty="0" err="1">
                <a:solidFill>
                  <a:srgbClr val="2DD4BF"/>
                </a:solidFill>
              </a:rPr>
              <a:t>backend</a:t>
            </a:r>
            <a:r>
              <a:rPr lang="es-CL" sz="2000" dirty="0">
                <a:solidFill>
                  <a:srgbClr val="2DD4BF"/>
                </a:solidFill>
              </a:rPr>
              <a:t> </a:t>
            </a:r>
            <a:r>
              <a:rPr lang="es-CL" sz="2000" b="1" dirty="0">
                <a:solidFill>
                  <a:srgbClr val="2DD4BF"/>
                </a:solidFill>
              </a:rPr>
              <a:t>(S9-S12)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EB7602-C0A1-85F6-B8C8-04CEC274A435}"/>
              </a:ext>
            </a:extLst>
          </p:cNvPr>
          <p:cNvSpPr txBox="1"/>
          <p:nvPr/>
        </p:nvSpPr>
        <p:spPr>
          <a:xfrm>
            <a:off x="4227957" y="4275964"/>
            <a:ext cx="34679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dirty="0">
                <a:solidFill>
                  <a:srgbClr val="2DD4BF"/>
                </a:solidFill>
              </a:rPr>
              <a:t>Desarrollo </a:t>
            </a:r>
            <a:r>
              <a:rPr lang="es-CL" sz="2000" dirty="0" err="1">
                <a:solidFill>
                  <a:srgbClr val="2DD4BF"/>
                </a:solidFill>
              </a:rPr>
              <a:t>frontend</a:t>
            </a:r>
            <a:r>
              <a:rPr lang="es-CL" sz="2000" dirty="0">
                <a:solidFill>
                  <a:srgbClr val="2DD4BF"/>
                </a:solidFill>
              </a:rPr>
              <a:t> </a:t>
            </a:r>
            <a:r>
              <a:rPr lang="es-CL" sz="2000" b="1" dirty="0">
                <a:solidFill>
                  <a:srgbClr val="2DD4BF"/>
                </a:solidFill>
              </a:rPr>
              <a:t>(S12-S14)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288016A-27FF-9AD7-E398-FF4F8698A160}"/>
              </a:ext>
            </a:extLst>
          </p:cNvPr>
          <p:cNvSpPr/>
          <p:nvPr/>
        </p:nvSpPr>
        <p:spPr>
          <a:xfrm>
            <a:off x="8555735" y="4874896"/>
            <a:ext cx="3176016" cy="11811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000" dirty="0"/>
              <a:t>Despliegue, QA y cierre</a:t>
            </a:r>
            <a:endParaRPr lang="es-CL" sz="36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5D840B-3959-BE45-FD57-BE808173B1D5}"/>
              </a:ext>
            </a:extLst>
          </p:cNvPr>
          <p:cNvSpPr txBox="1"/>
          <p:nvPr/>
        </p:nvSpPr>
        <p:spPr>
          <a:xfrm>
            <a:off x="9572767" y="4874896"/>
            <a:ext cx="1141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>
                <a:solidFill>
                  <a:schemeClr val="bg1"/>
                </a:solidFill>
              </a:rPr>
              <a:t>Fase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5A53BC-C69C-115D-0618-A177ACD2B65C}"/>
              </a:ext>
            </a:extLst>
          </p:cNvPr>
          <p:cNvSpPr txBox="1"/>
          <p:nvPr/>
        </p:nvSpPr>
        <p:spPr>
          <a:xfrm>
            <a:off x="1078562" y="2944695"/>
            <a:ext cx="922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2DD4BF"/>
                </a:solidFill>
              </a:rPr>
              <a:t>(S1-S4)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69D67E-D16E-7EAA-92B4-1BA75E14C495}"/>
              </a:ext>
            </a:extLst>
          </p:cNvPr>
          <p:cNvSpPr txBox="1"/>
          <p:nvPr/>
        </p:nvSpPr>
        <p:spPr>
          <a:xfrm>
            <a:off x="9559288" y="604638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2DD4BF"/>
                </a:solidFill>
              </a:rPr>
              <a:t>(S17-S18)</a:t>
            </a:r>
          </a:p>
        </p:txBody>
      </p:sp>
    </p:spTree>
    <p:extLst>
      <p:ext uri="{BB962C8B-B14F-4D97-AF65-F5344CB8AC3E}">
        <p14:creationId xmlns:p14="http://schemas.microsoft.com/office/powerpoint/2010/main" val="2627541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D4B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1CA42-F715-3001-1235-8F7B80774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2BB15F-8C3F-BF09-50C9-BCE77454E8AF}"/>
              </a:ext>
            </a:extLst>
          </p:cNvPr>
          <p:cNvSpPr txBox="1"/>
          <p:nvPr/>
        </p:nvSpPr>
        <p:spPr>
          <a:xfrm>
            <a:off x="2514891" y="3013501"/>
            <a:ext cx="71622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800" b="1" dirty="0">
                <a:solidFill>
                  <a:schemeClr val="bg1"/>
                </a:solidFill>
              </a:rPr>
              <a:t>Preguntas / Comentarios</a:t>
            </a:r>
          </a:p>
        </p:txBody>
      </p:sp>
    </p:spTree>
    <p:extLst>
      <p:ext uri="{BB962C8B-B14F-4D97-AF65-F5344CB8AC3E}">
        <p14:creationId xmlns:p14="http://schemas.microsoft.com/office/powerpoint/2010/main" val="3516977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353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VICENTE TOLEDO OLIVARES</dc:creator>
  <cp:lastModifiedBy>JOSE VICENTE TOLEDO OLIVARES</cp:lastModifiedBy>
  <cp:revision>1</cp:revision>
  <dcterms:created xsi:type="dcterms:W3CDTF">2026-09-08T23:18:27Z</dcterms:created>
  <dcterms:modified xsi:type="dcterms:W3CDTF">2026-09-09T00:59:42Z</dcterms:modified>
</cp:coreProperties>
</file>